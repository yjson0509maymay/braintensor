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Study 2: 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</c:v>
                  </c:pt>
                  <c:pt idx="1">
                    <c:v>Variant 1</c:v>
                  </c:pt>
                  <c:pt idx="2">
                    <c:v>Variant 2</c:v>
                  </c:pt>
                  <c:pt idx="3">
                    <c:v>Variant 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84.96</c:v>
                </c:pt>
                <c:pt idx="1">
                  <c:v>88.25</c:v>
                </c:pt>
                <c:pt idx="2">
                  <c:v>90.28</c:v>
                </c:pt>
                <c:pt idx="3">
                  <c:v>93.41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Model-1
(3D-CNN)</c:v>
                  </c:pt>
                  <c:pt idx="1">
                    <c:v>Model-2
(3D-ResNet)</c:v>
                  </c:pt>
                  <c:pt idx="2">
                    <c:v>Model-3
(CCA, 15-fold)</c:v>
                  </c:pt>
                  <c:pt idx="3">
                    <c:v>Model-4
(WOA, 15-fold)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93.4</c:v>
                </c:pt>
                <c:pt idx="1">
                  <c:v>90</c:v>
                </c:pt>
                <c:pt idx="2">
                  <c:v>94.8</c:v>
                </c:pt>
                <c:pt idx="3">
                  <c:v>97.2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8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파킨슨병 조기진단 재현연구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아키텍처 분석: 3D-CNN · Improved 3D-ResNet · CCA · WOA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2377440" cy="18288"/>
          </a:xfrm>
          <a:prstGeom prst="rect">
            <a:avLst/>
          </a:prstGeom>
          <a:solidFill>
            <a:srgbClr val="3A4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794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 논문: </a:t>
            </a:r>
            <a:pPr indent="0" marL="0">
              <a:buNone/>
            </a:pPr>
            <a:r>
              <a:rPr lang="en-US" sz="130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Priyadharshini et al., Scientific Reports (2024) 14:23394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10.1038/s41598-024-74405-5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브레인텐서 프로젝트 · PPMI T2-weighted MRI 303명 재현연구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994392" y="5989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논문 핵심 파이프라인: 4개 모델의 결합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3D-CNN과 3D-ResNet이 병렬로 특징을 추출하고, CCA로 융합한 뒤 WOA로 최적화하여 분류에 사용합니다.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431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431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18745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3D-CNN (Proposed, Model-1)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20240" y="226771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56³ MRI 입력 · Conv3D 7회 · FC-1/FC-2에서 각 1000개 특징 추출 (24 layers)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99232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204972"/>
            <a:ext cx="685800" cy="685800"/>
          </a:xfrm>
          <a:prstGeom prst="ellipse">
            <a:avLst/>
          </a:prstGeom>
          <a:solidFill>
            <a:srgbClr val="3B4E9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049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313639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3D-ResNet (Model-2)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20240" y="352958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Block 5개(각 3 unit) · Skip Connection · FC-4에서 특징 추출 (15 layers)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61104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466844"/>
            <a:ext cx="685800" cy="685800"/>
          </a:xfrm>
          <a:prstGeom prst="ellipse">
            <a:avLst/>
          </a:prstGeom>
          <a:solidFill>
            <a:srgbClr val="5E72B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46684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4398264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 (Feature Fusion)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20240" y="479145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모델의 특징벡터를 정준상관분석으로 융합 (Eq. 3-7)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522976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728716"/>
            <a:ext cx="685800" cy="685800"/>
          </a:xfrm>
          <a:prstGeom prst="ellipse">
            <a:avLst/>
          </a:prstGeom>
          <a:solidFill>
            <a:srgbClr val="8494C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72871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20240" y="566013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WOA (Feature Optimization)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920240" y="60533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고래 최적화 알고리즘으로 최적 특징 서브셋 선택 (Population 100, Iteration 200)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조기진단 재현연구 · 모델 아키텍처 분석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3D-CNN 구조 (Figure 2)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 수·가중치 shape·출력 크기는 원문 Figure 2에 명시. Stride/Padding은 논문에 기재되지 않음.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24128" cy="1371600"/>
          </a:xfrm>
          <a:prstGeom prst="roundRect">
            <a:avLst>
              <a:gd name="adj" fmla="val 53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304288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2944368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56³×1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664208" y="2697480"/>
            <a:ext cx="7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735328" y="2194560"/>
            <a:ext cx="1024128" cy="1371600"/>
          </a:xfrm>
          <a:prstGeom prst="roundRect">
            <a:avLst>
              <a:gd name="adj" fmla="val 53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89608" y="2304288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Conv3D×2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+ReLU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89608" y="2944368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→32→64→128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56³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59456" y="2697480"/>
            <a:ext cx="7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30576" y="2194560"/>
            <a:ext cx="1024128" cy="1371600"/>
          </a:xfrm>
          <a:prstGeom prst="roundRect">
            <a:avLst>
              <a:gd name="adj" fmla="val 53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84856" y="2304288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84856" y="2944368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28³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54704" y="2697480"/>
            <a:ext cx="7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925824" y="2194560"/>
            <a:ext cx="1024128" cy="1371600"/>
          </a:xfrm>
          <a:prstGeom prst="roundRect">
            <a:avLst>
              <a:gd name="adj" fmla="val 53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80104" y="2304288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Conv3D×3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+ReLU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80104" y="2944368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→256→512→1024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28³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49952" y="2697480"/>
            <a:ext cx="7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1072" y="2194560"/>
            <a:ext cx="1024128" cy="1371600"/>
          </a:xfrm>
          <a:prstGeom prst="roundRect">
            <a:avLst>
              <a:gd name="adj" fmla="val 53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75352" y="2304288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75352" y="2944368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14³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045200" y="2697480"/>
            <a:ext cx="7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16320" y="2194560"/>
            <a:ext cx="1024128" cy="1371600"/>
          </a:xfrm>
          <a:prstGeom prst="roundRect">
            <a:avLst>
              <a:gd name="adj" fmla="val 53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70600" y="2304288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Conv3D×2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+ReLU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70600" y="2944368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→512→256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14³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140448" y="2697480"/>
            <a:ext cx="7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211568" y="2194560"/>
            <a:ext cx="1024128" cy="1371600"/>
          </a:xfrm>
          <a:prstGeom prst="roundRect">
            <a:avLst>
              <a:gd name="adj" fmla="val 53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65848" y="2304288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165848" y="2944368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7³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235696" y="2697480"/>
            <a:ext cx="7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306816" y="2194560"/>
            <a:ext cx="1024128" cy="1371600"/>
          </a:xfrm>
          <a:prstGeom prst="roundRect">
            <a:avLst>
              <a:gd name="adj" fmla="val 53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261096" y="2304288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61096" y="2944368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12544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330944" y="2697480"/>
            <a:ext cx="7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402064" y="2194560"/>
            <a:ext cx="1024128" cy="1371600"/>
          </a:xfrm>
          <a:prstGeom prst="roundRect">
            <a:avLst>
              <a:gd name="adj" fmla="val 535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356344" y="2304288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FC-1/FC-2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356344" y="2944368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1000+1000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426192" y="2697480"/>
            <a:ext cx="7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0497312" y="2194560"/>
            <a:ext cx="1024128" cy="1371600"/>
          </a:xfrm>
          <a:prstGeom prst="roundRect">
            <a:avLst>
              <a:gd name="adj" fmla="val 53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0451592" y="2304288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451592" y="2944368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40080" y="397764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1440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서술 요약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14400" y="4462272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layers (Input, Conv3D+ReLU, BN, Pooling, Dense×2, SoftMax)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커널 크기 (3,3,3), Pool Size (2,2,2) — Figure 2 명시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LR=0.001, Epoch=30, k-fold=5, L2 weight decay=0.0001 (Table 5)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조기진단 재현연구 · 모델 아키텍처 분석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Improved 3D-ResNet 구조 (Figure 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713232" cy="91440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85216" y="12344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53312" y="1527048"/>
            <a:ext cx="689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22244" y="1234440"/>
            <a:ext cx="713232" cy="91440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67380" y="12344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Conv3D-1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+BN+ReLU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135476" y="1527048"/>
            <a:ext cx="689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04407" y="1234440"/>
            <a:ext cx="713232" cy="91440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49543" y="12344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Conv3D-2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+BN+ReLU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17639" y="1527048"/>
            <a:ext cx="689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86571" y="1234440"/>
            <a:ext cx="713232" cy="91440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31707" y="12344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99803" y="1527048"/>
            <a:ext cx="689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68735" y="1234440"/>
            <a:ext cx="713232" cy="91440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13871" y="12344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81967" y="1527048"/>
            <a:ext cx="689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50898" y="1234440"/>
            <a:ext cx="713232" cy="91440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96034" y="12344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64130" y="1527048"/>
            <a:ext cx="689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33062" y="1234440"/>
            <a:ext cx="713232" cy="91440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78198" y="12344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46294" y="1527048"/>
            <a:ext cx="689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15226" y="1234440"/>
            <a:ext cx="713232" cy="91440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60362" y="12344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28458" y="1527048"/>
            <a:ext cx="689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97390" y="1234440"/>
            <a:ext cx="713232" cy="91440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42526" y="12344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610622" y="1527048"/>
            <a:ext cx="689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79553" y="1234440"/>
            <a:ext cx="713232" cy="91440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24689" y="12344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392785" y="1527048"/>
            <a:ext cx="689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461717" y="1234440"/>
            <a:ext cx="713232" cy="91440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406853" y="12344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174949" y="1527048"/>
            <a:ext cx="689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243881" y="1234440"/>
            <a:ext cx="713232" cy="91440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189017" y="12344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957113" y="1527048"/>
            <a:ext cx="689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026044" y="1234440"/>
            <a:ext cx="713232" cy="91440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971180" y="12344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739276" y="1527048"/>
            <a:ext cx="689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808208" y="1234440"/>
            <a:ext cx="713232" cy="914400"/>
          </a:xfrm>
          <a:prstGeom prst="roundRect">
            <a:avLst>
              <a:gd name="adj" fmla="val 7692"/>
            </a:avLst>
          </a:prstGeom>
          <a:solidFill>
            <a:srgbClr val="3B4E9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0753344" y="12344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FC-4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40080" y="2514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Unit 내부 구조 (Block당 3개 unit × 5 Block = 15 units)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40080" y="297180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40080" y="2971800"/>
            <a:ext cx="16002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240280" y="3195828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496312" y="297180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2496312" y="2971800"/>
            <a:ext cx="16002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Conv3D→BN→ReLU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096512" y="3195828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352544" y="297180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352544" y="2971800"/>
            <a:ext cx="16002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Conv3D→BN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952744" y="3195828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208776" y="297180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208776" y="2971800"/>
            <a:ext cx="16002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Skip(Conv3D→BN)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808976" y="3195828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065008" y="297180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065008" y="2971800"/>
            <a:ext cx="16002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9665208" y="3195828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921240" y="297180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9921240" y="2971800"/>
            <a:ext cx="16002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40080" y="41148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DECE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91440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주의: 세부 수치 대부분 미기재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914400" y="4590288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C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3에는 필터 수·커널 크기·stride·padding이 전혀 표기되어 있지 않음 (3D-CNN Figure 2와 대조적)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C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optimizer, SoftMax + categorical cross-entropy (본문 명시) / LR=0.0001, Epoch=30, k-fold=5 (Table 5)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조기진단 재현연구 · 모델 아키텍처 분석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특징 융합(CCA) 및 특징 최적화(WOA)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212080" cy="4846320"/>
          </a:xfrm>
          <a:prstGeom prst="roundRect">
            <a:avLst>
              <a:gd name="adj" fmla="val 188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508760"/>
            <a:ext cx="548640" cy="548640"/>
          </a:xfrm>
          <a:prstGeom prst="ellipse">
            <a:avLst/>
          </a:prstGeom>
          <a:solidFill>
            <a:srgbClr val="3B4E9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00200" y="1554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Concatenation + CCA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Eq.(2): x̃3 = max(x1, x2), 중복 없이 최대값 선택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FC-1(1000) + FC-2(1000) → 3D-CNN 융합 특징(Fig.1: FV-3×2000)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3D-CNN 특징 + 3D-ResNet 특징 → CCA로 2차 융합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공분산행렬 S_AA, S_BB, S_AB → W_A, W_B → 고유값 분해 (Eq.3-7)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출력: 정준상관변수 Z1, Z2 (본문 표기상 FC-3로도 지칭)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53949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논문에 기재되지 않음: 정규화 방식, 정준변수 개수 등 세부 파라미터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80760" y="123444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508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0" y="15544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 Optimization Algorithm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2148840"/>
            <a:ext cx="292608" cy="292608"/>
          </a:xfrm>
          <a:prstGeom prst="ellipse">
            <a:avLst/>
          </a:prstGeom>
          <a:solidFill>
            <a:srgbClr val="8494C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21031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초기화: 특징 서브셋을 whale position에 할당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2862072"/>
            <a:ext cx="292608" cy="292608"/>
          </a:xfrm>
          <a:prstGeom prst="ellipse">
            <a:avLst/>
          </a:prstGeom>
          <a:solidFill>
            <a:srgbClr val="8494C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862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81635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계산: f(θ)=α·γ_R(D)+(1−α)·|R|/|N| (Eq.17, γ_R=KNN 오류율)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3575304"/>
            <a:ext cx="292608" cy="292608"/>
          </a:xfrm>
          <a:prstGeom prst="ellipse">
            <a:avLst/>
          </a:prstGeom>
          <a:solidFill>
            <a:srgbClr val="8494C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575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352958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P≥0.5 → Spiral(개발) / P&lt;0.5, |A|≥1 → 탐색 / |A|&lt;1 → 포위(개발)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0" y="4288536"/>
            <a:ext cx="292608" cy="292608"/>
          </a:xfrm>
          <a:prstGeom prst="ellipse">
            <a:avLst/>
          </a:prstGeom>
          <a:solidFill>
            <a:srgbClr val="8494C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4288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424281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종료조건(max iteration) 충족까지 반복 → Best position 산출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0" y="5074920"/>
            <a:ext cx="4846320" cy="868680"/>
          </a:xfrm>
          <a:prstGeom prst="roundRect">
            <a:avLst>
              <a:gd name="adj" fmla="val 6316"/>
            </a:avLst>
          </a:prstGeom>
          <a:solidFill>
            <a:srgbClr val="E9EDF9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51389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7 파라미터: b=1, threshold=0.5, Population=100, Iteration=200, bounds=0-1, 독립실행=20회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조기진단 재현연구 · 모델 아키텍처 분석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데이터 흐름 (Figure 1)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417320" cy="146304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371600"/>
            <a:ext cx="150876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(303명 T2 MRI)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57400" y="1920240"/>
            <a:ext cx="160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17420" y="1371600"/>
            <a:ext cx="1417320" cy="146304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71700" y="1371600"/>
            <a:ext cx="150876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(추출·정합·정규화)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34740" y="1920240"/>
            <a:ext cx="160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794760" y="1371600"/>
            <a:ext cx="1417320" cy="146304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49040" y="1371600"/>
            <a:ext cx="150876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3D-CNN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3D-ResNet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(병렬 특징추출)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0" y="1920240"/>
            <a:ext cx="160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72100" y="1371600"/>
            <a:ext cx="1417320" cy="146304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26380" y="1371600"/>
            <a:ext cx="150876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Fusion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(CCA)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89420" y="1920240"/>
            <a:ext cx="160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49440" y="1371600"/>
            <a:ext cx="1417320" cy="146304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1371600"/>
            <a:ext cx="150876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(WOA)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66760" y="1920240"/>
            <a:ext cx="160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526780" y="1371600"/>
            <a:ext cx="1417320" cy="146304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81060" y="1371600"/>
            <a:ext cx="150876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(SVM/KNN/GB/RF)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944100" y="1920240"/>
            <a:ext cx="160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104120" y="1371600"/>
            <a:ext cx="1417320" cy="146304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0" y="1371600"/>
            <a:ext cx="150876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(Control/PD/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Prodromal)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246120"/>
            <a:ext cx="10881360" cy="2377440"/>
          </a:xfrm>
          <a:prstGeom prst="roundRect">
            <a:avLst>
              <a:gd name="adj" fmla="val 307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34015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 모델 구분 (Table 6, Table 8)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794760"/>
          <a:ext cx="10332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503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3D-CNN 단독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3D-ResNet 단독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CCA 융합, 최적화 없음 (15-fold: Accuracy 0.948)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CCA 융합 + WOA 최적화 (15-fold: Accuracy 0.972, 최종 모델)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조기진단 재현연구 · 모델 아키텍처 분석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Study (Table 3)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3D-CNN 구조를 Base → Variant1 → Variant2 → Variant3로 점진 개선하며 성능 향상 확인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58521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20840" y="1554480"/>
            <a:ext cx="4800600" cy="3383280"/>
          </a:xfrm>
          <a:prstGeom prst="roundRect">
            <a:avLst>
              <a:gd name="adj" fmla="val 216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949440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 추출 계층별 최고 분류기 (Table 4)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148840"/>
          <a:ext cx="43891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91440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Analysis 1: FC-1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C"/>
                          </a:solidFill>
                        </a:rPr>
                        <a:t>RF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88.7%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Analysis 2: FC-2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C"/>
                          </a:solidFill>
                        </a:rPr>
                        <a:t>GB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90.1%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Analysis 3: FC-3(fusion)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C"/>
                          </a:solidFill>
                        </a:rPr>
                        <a:t>GB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93.5%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Analysis 4: 3D-ResNet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C"/>
                          </a:solidFill>
                        </a:rPr>
                        <a:t>GB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90.0%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Analysis 5: EfficientNet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C"/>
                          </a:solidFill>
                        </a:rPr>
                        <a:t>RF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93.0%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</a:rPr>
                        <a:t>Analysis 6: ViT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C"/>
                          </a:solidFill>
                        </a:rPr>
                        <a:t>GB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92.0%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Base 82.02% → Variant3 89.43%(Study1) → 하이퍼파라미터 튜닝 후 93.41%(Study2). 본문 서술 그대로.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조기진단 재현연구 · 모델 아키텍처 분석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최종 모델 성능 비교 (Table 6, Table 8)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417320"/>
          <a:ext cx="6400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269480" y="1417320"/>
            <a:ext cx="4251960" cy="3657600"/>
          </a:xfrm>
          <a:prstGeom prst="roundRect">
            <a:avLst>
              <a:gd name="adj" fmla="val 20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543800" y="1600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Model-4 최종 성능 (본문 p.14)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54380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50976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543800" y="25786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509760" y="25786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543800" y="31455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509760" y="31455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543800" y="37124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509760" y="37124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92.1%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543800" y="45262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Model-3 대비 Model-4는 WOA 최적화로 정확도가 향상됨 (15-fold 기준 0.948→0.972)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조기진단 재현연구 · 모델 아키텍처 분석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원문 내부 수치 불일치 (Q&amp;A 대비)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아래 4가지는 재현 과정의 오류가 아니라, 논문 원문 자체에 존재하는 표기 불일치입니다.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DECE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9738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97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7099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8 vs 본문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202082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8은 3D-ResNet=97.2%로 기재하나, 본문(p.10)은 "GB 기반 최대 정확도 90%"로 서술. 97.2%는 Table 6 Model-4(15-fold) 값과 일치.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779776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DECEA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07695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769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2889504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 vs Table 6 (Model-4)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00200" y="32004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본문(p.14) precision 90.6%/recall 98.5% ↔ Table 6은 recall 0.906/precision 0.985로 값이 뒤바뀐 형태. F1도 92.1%(본문) vs 93.1%(표)로 상이.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959352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DECE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25653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565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406908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vs 본문 (ResNet 특징 차원)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437997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본문은 "ResNet에서 1000개 특징, 총 2000개 추출"이라 하나, Figure 1은 ResNet 출력에 "FV-4×2000" 라벨 표기.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5138928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DECEA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543610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436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00200" y="5248656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내부 산술 (Flatten)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00200" y="555955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layer가 "12544 neurons"로 표기되나 직전 출력(7³×256채널)을 모두 곱하면 87808. 7×7×256=12544는 성립(3차원 중 1개 미반영으로 추정).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조기진단 재현연구 · 모델 아키텍처 분석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현재 재현 진행 상태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27306B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 완료: PPMI T2 303명 (Control 110 / Prodromal 58 / PD 135), 56³ MNI152 정합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303명 numeric + visual QC 완료, 등록 실패 3건 교체 후 코호트 구성 확정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아키텍처 분석 완료: 논문 4개 핵심 모델(3D-CNN, 3D-ResNet, CCA, WOA) 구조·수치 정리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27306B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2103120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모델링 산출물(train.py, models.py, 학습 체크포인트) 논문 스펙과 대조 검증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3D-CNN / 3D-ResNet 학습 및 특징 추출 재현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 융합 + WOA 최적화 → Model-3, Model-4 재현 및 성능 비교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조기진단 재현연구 · 모델 아키텍처 분석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 조기진단 재현연구 - 모델 아키텍처 분석</dc:title>
  <dc:subject>PptxGenJS Presentation</dc:subject>
  <dc:creator>Maymei</dc:creator>
  <cp:lastModifiedBy>Maymei</cp:lastModifiedBy>
  <cp:revision>1</cp:revision>
  <dcterms:created xsi:type="dcterms:W3CDTF">2026-07-02T11:26:35Z</dcterms:created>
  <dcterms:modified xsi:type="dcterms:W3CDTF">2026-07-02T11:26:35Z</dcterms:modified>
</cp:coreProperties>
</file>